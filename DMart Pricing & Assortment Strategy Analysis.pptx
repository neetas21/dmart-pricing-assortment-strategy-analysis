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5B9A5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E8B84B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188720"/>
            <a:ext cx="822960" cy="822960"/>
          </a:xfrm>
          <a:prstGeom prst="ellipse">
            <a:avLst/>
          </a:prstGeom>
          <a:solidFill>
            <a:srgbClr val="5B9A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945" y="129570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DMart Pricing &amp; Assortment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108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Analysis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7E3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Exploratory, SQL &amp; NoSQL Analysis of DMart's Real Product Catalog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6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Portfolio Project   |   5,181 SKUs   |   21 Categories   |   822 Brands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DMart's catalog spans 5,000+ SKUs across 21 categories and 822 brands. Leadership needs visibility into: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4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4460" y="2148840"/>
            <a:ext cx="640080" cy="640080"/>
          </a:xfrm>
          <a:prstGeom prst="ellipse">
            <a:avLst/>
          </a:prstGeom>
          <a:solidFill>
            <a:srgbClr val="1F4D2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7670" y="223205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Consistency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56616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discounting strategy deliberate and category-tiered, or inconsistent?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0" y="182880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4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37660" y="2148840"/>
            <a:ext cx="640080" cy="640080"/>
          </a:xfrm>
          <a:prstGeom prst="ellipse">
            <a:avLst/>
          </a:prstGeom>
          <a:solidFill>
            <a:srgbClr val="1F4D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870" y="223205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Concentration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383280" y="356616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exposed are categories to private-label vs. branded competition?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43600" y="182880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4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80860" y="2148840"/>
            <a:ext cx="640080" cy="640080"/>
          </a:xfrm>
          <a:prstGeom prst="ellipse">
            <a:avLst/>
          </a:prstGeom>
          <a:solidFill>
            <a:srgbClr val="1F4D2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4070" y="223205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076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Assortment Depth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126480" y="356616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SKU depth balanced relative to each category's importance?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686800" y="1828800"/>
            <a:ext cx="2514600" cy="4206240"/>
          </a:xfrm>
          <a:prstGeom prst="roundRect">
            <a:avLst>
              <a:gd name="adj" fmla="val 2909"/>
            </a:avLst>
          </a:prstGeom>
          <a:solidFill>
            <a:srgbClr val="F4F6F4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624060" y="2148840"/>
            <a:ext cx="640080" cy="640080"/>
          </a:xfrm>
          <a:prstGeom prst="ellipse">
            <a:avLst/>
          </a:prstGeom>
          <a:solidFill>
            <a:srgbClr val="1F4D2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7270" y="223205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23960" y="29718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Outliers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869680" y="356616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extreme-priced products distort category benchmarks?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DMart Pricing &amp; Assortment Strategy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DMart product catalog (not transactional sales data) — analysis scoped to pricing, discounting &amp; assortment strategy.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5B9A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7393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duplicates &amp; rows with missing core fields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365760" cy="365760"/>
          </a:xfrm>
          <a:prstGeom prst="ellipse">
            <a:avLst/>
          </a:prstGeom>
          <a:solidFill>
            <a:srgbClr val="5B9A5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42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48716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13 mis-categorized rows (brand scraped as category)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55264"/>
            <a:ext cx="365760" cy="365760"/>
          </a:xfrm>
          <a:prstGeom prst="ellipse">
            <a:avLst/>
          </a:prstGeom>
          <a:solidFill>
            <a:srgbClr val="5B9A5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55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2004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21 Sub-Category labels via BreadCrumbs hierarchy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365760" cy="365760"/>
          </a:xfrm>
          <a:prstGeom prst="ellipse">
            <a:avLst/>
          </a:prstGeom>
          <a:solidFill>
            <a:srgbClr val="5B9A5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68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9136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Parsed free-text Quantity ("500 gm", "2x1L") into numeric + unit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81728"/>
            <a:ext cx="365760" cy="365760"/>
          </a:xfrm>
          <a:prstGeom prst="ellipse">
            <a:avLst/>
          </a:prstGeom>
          <a:solidFill>
            <a:srgbClr val="5B9A5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81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62686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Discount Amount &amp; Discount % per product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394960"/>
            <a:ext cx="365760" cy="365760"/>
          </a:xfrm>
          <a:prstGeom prst="ellipse">
            <a:avLst/>
          </a:prstGeom>
          <a:solidFill>
            <a:srgbClr val="5B9A5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394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534009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Price Band tiers: Budget / Mid / Upper-Mid / Premium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589520" y="18288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F4D2C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20116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5,181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589520" y="2743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SKUs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92640" y="18288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F4D2C"/>
          </a:solidFill>
          <a:ln/>
        </p:spPr>
      </p:sp>
      <p:sp>
        <p:nvSpPr>
          <p:cNvPr id="26" name="Text 24"/>
          <p:cNvSpPr/>
          <p:nvPr/>
        </p:nvSpPr>
        <p:spPr>
          <a:xfrm>
            <a:off x="9692640" y="20116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692640" y="27432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89520" y="36576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F4D2C"/>
          </a:solidFill>
          <a:ln/>
        </p:spPr>
      </p:sp>
      <p:sp>
        <p:nvSpPr>
          <p:cNvPr id="29" name="Text 27"/>
          <p:cNvSpPr/>
          <p:nvPr/>
        </p:nvSpPr>
        <p:spPr>
          <a:xfrm>
            <a:off x="7589520" y="3840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822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589520" y="4572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92640" y="365760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1F4D2C"/>
          </a:solidFill>
          <a:ln/>
        </p:spPr>
      </p:sp>
      <p:sp>
        <p:nvSpPr>
          <p:cNvPr id="32" name="Text 30"/>
          <p:cNvSpPr/>
          <p:nvPr/>
        </p:nvSpPr>
        <p:spPr>
          <a:xfrm>
            <a:off x="9692640" y="3840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9692640" y="4572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Nulls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DMart Pricing &amp; Assortment Strategy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Composition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Care, Packaged Food, Grocery &amp; Home/Kitchen dominate the assortment by SKU count.</a:t>
            </a:r>
            <a:endParaRPr lang="en-US" sz="1300" dirty="0"/>
          </a:p>
        </p:txBody>
      </p:sp>
      <p:pic>
        <p:nvPicPr>
          <p:cNvPr id="4" name="Image 0" descr="charts/01_category_sku_cou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417320"/>
            <a:ext cx="960120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DMart Pricing &amp; Assortment Strategy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Discounting is Sharply Category-Tiered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Discretionary categories (Electronics, Backpacks) discounted 2x harder than daily staples.</a:t>
            </a:r>
            <a:endParaRPr lang="en-US" sz="1300" dirty="0"/>
          </a:p>
        </p:txBody>
      </p:sp>
      <p:pic>
        <p:nvPicPr>
          <p:cNvPr id="4" name="Image 0" descr="charts/02_avg_discount_by_categ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417320"/>
            <a:ext cx="960120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DMart Pricing &amp; Assortment Strategy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Value-Led Price Positioning</a:t>
            </a:r>
            <a:endParaRPr lang="en-US" sz="2800" dirty="0"/>
          </a:p>
        </p:txBody>
      </p:sp>
      <p:pic>
        <p:nvPicPr>
          <p:cNvPr id="3" name="Image 0" descr="charts/03_price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188720"/>
            <a:ext cx="6400800" cy="4114800"/>
          </a:xfrm>
          <a:prstGeom prst="rect">
            <a:avLst/>
          </a:prstGeom>
        </p:spPr>
      </p:pic>
      <p:pic>
        <p:nvPicPr>
          <p:cNvPr id="4" name="Image 1" descr="charts/04_price_band_spli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40880" y="1188720"/>
            <a:ext cx="4754880" cy="41148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price: ₹175   |   Average price: ₹344 (pulled up by premium outliers)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DMart Pricing &amp; Assortment Strategy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 Leads the Brand Landscape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“Unbranded/DMart” is the single largest “brand” by SKU count, ahead of every national brand.</a:t>
            </a:r>
            <a:endParaRPr lang="en-US" sz="1300" dirty="0"/>
          </a:p>
        </p:txBody>
      </p:sp>
      <p:pic>
        <p:nvPicPr>
          <p:cNvPr id="4" name="Image 0" descr="charts/05_top_bran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3040" y="1371600"/>
            <a:ext cx="914400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DMart Pricing &amp; Assortment Strategy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Concentration Varies by Category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 fully owns Fruits &amp; Veg, Plant Containers, Tableware. Branded players lead Personal Care &amp; Dairy.</a:t>
            </a:r>
            <a:endParaRPr lang="en-US" sz="1300" dirty="0"/>
          </a:p>
        </p:txBody>
      </p:sp>
      <p:pic>
        <p:nvPicPr>
          <p:cNvPr id="4" name="Image 0" descr="charts/06_brand_concentr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1124712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02920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F4F6F4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52120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private-label share in: Fruits &amp; Vegetables  •  Plant Containers  •  Tableware  —  zero branded competition in these categories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DMart Pricing &amp; Assortment Strategy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5B9A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49469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Analysis (SQLite)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3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questions answered with GROUP BY, window functions &amp; joins on the cleaned catalog.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572000"/>
                <a:gridCol w="54864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B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B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4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Result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B84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Deepest avg. discount by category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Electronics &amp; Accessories — 59.9%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 avg. price brand (5+ SKUs)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Boat — ₹3,275.71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 fully owned by one brand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Fruits &amp; Veg, Tableware — 100% DMart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 extreme priced outlier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Philips UV-C System — ₹10,990 (22x category avg.)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Steepest individual product discount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Naagin Hot Sauce — 98% off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DMart Pricing &amp; Assortment Strategy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40080" cy="640080"/>
          </a:xfrm>
          <a:prstGeom prst="ellipse">
            <a:avLst/>
          </a:prstGeom>
          <a:solidFill>
            <a:srgbClr val="1F4D2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" y="44897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Aggregation Pipeline (Bonus)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business questions re-run as NoSQL aggregation pipelines — results cross-validated against SQL.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6400800" cy="3017520"/>
          </a:xfrm>
          <a:prstGeom prst="roundRect">
            <a:avLst>
              <a:gd name="adj" fmla="val 2424"/>
            </a:avLst>
          </a:prstGeom>
          <a:solidFill>
            <a:srgbClr val="1E1E1E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783080"/>
            <a:ext cx="5943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db.products.aggregate([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$group: { _id: "$Category",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avg_discount_pct: { $avg: "$Discount_Pct" },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sku_count: { $sum: 1 } } },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$sort: { avg_discount_pct: -1 } },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$limit: 10 }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132320" y="1600200"/>
            <a:ext cx="4572000" cy="3017520"/>
          </a:xfrm>
          <a:prstGeom prst="roundRect">
            <a:avLst>
              <a:gd name="adj" fmla="val 2424"/>
            </a:avLst>
          </a:prstGeom>
          <a:solidFill>
            <a:srgbClr val="F4F6F4"/>
          </a:solidFill>
          <a:ln/>
        </p:spPr>
      </p:sp>
      <p:sp>
        <p:nvSpPr>
          <p:cNvPr id="9" name="Text 6"/>
          <p:cNvSpPr/>
          <p:nvPr/>
        </p:nvSpPr>
        <p:spPr>
          <a:xfrm>
            <a:off x="7360920" y="1783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matched SQL exactly: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60920" y="219456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Electronics &amp; Accessories: 59.87%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Smartwatches: 58.34%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Backpacks: 51.73%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4846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executed via mongomock (in-memory MongoDB-compatible engine, no live DB network access in this environment) — identical syntax to production MongoDB/Atlas.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DMart Pricing &amp; Assortment Strategy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40080" cy="640080"/>
          </a:xfrm>
          <a:prstGeom prst="ellipse">
            <a:avLst/>
          </a:prstGeom>
          <a:solidFill>
            <a:srgbClr val="E8B84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" y="44897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65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&amp; Recommendations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F4F6F4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630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192024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Discounting is deliberately tiered: staples ~28%, discretionary 50–60%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 is the largest “brand” and fully owns 3 categories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outlier-priced products distort category price benchmarks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is heavily Budget/Mid weighted — value positioning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discounts (e.g. 98%) warrant a data-accuracy check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17920" y="128016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1F4D2C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14630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92240" y="192024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100% private-label categories — confirm intentional, not a gap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extreme-discount SKUs (&gt;75%) for data accuracy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premium outliers into their own pricing segment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Formalize discount-tiering policy by category type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DMart Pricing &amp; Assortment Strategy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5B9A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552298"/>
            <a:ext cx="541325" cy="5413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Live Monitoring Dashboard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463040" y="1097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3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scope for a Power BI / Tableau dashboard extending this analysis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22960" y="1920240"/>
            <a:ext cx="320040" cy="32004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25880" y="185623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KPI cards: SKU count, avg. price, avg. discount %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2633472"/>
            <a:ext cx="320040" cy="32004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25880" y="256946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outlier alerting (flag SKUs outside category norms)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3346704"/>
            <a:ext cx="320040" cy="32004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3467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325880" y="3282696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Private-label share tracker (alert if &gt;80% category share)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22960" y="4059936"/>
            <a:ext cx="320040" cy="32004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0599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325880" y="39959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Price-band mix trend over time, by category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22960" y="4773168"/>
            <a:ext cx="320040" cy="32004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7731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325880" y="4709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/ discontinued SKU tracker across catalog snapshots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138160" y="1920240"/>
            <a:ext cx="3657600" cy="3566160"/>
          </a:xfrm>
          <a:prstGeom prst="roundRect">
            <a:avLst>
              <a:gd name="adj" fmla="val 2051"/>
            </a:avLst>
          </a:prstGeom>
          <a:solidFill>
            <a:srgbClr val="5B9A5E"/>
          </a:solidFill>
          <a:ln/>
        </p:spPr>
      </p:sp>
      <p:sp>
        <p:nvSpPr>
          <p:cNvPr id="22" name="Text 19"/>
          <p:cNvSpPr/>
          <p:nvPr/>
        </p:nvSpPr>
        <p:spPr>
          <a:xfrm>
            <a:off x="836676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extension: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366760" y="25146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D2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true transactional data (orders, quantities, dates), this evolves into full sales performance, demand forecasting &amp; customer analytics.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|  DMart Pricing &amp; Assortment Strategy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DMart Pricing &amp; Assortment Strategy</dc:title>
  <dc:subject>PptxGenJS Presentation</dc:subject>
  <dc:creator>DMart Analytics Project</dc:creator>
  <cp:lastModifiedBy>DMart Analytics Project</cp:lastModifiedBy>
  <cp:revision>1</cp:revision>
  <dcterms:created xsi:type="dcterms:W3CDTF">2026-06-30T18:29:24Z</dcterms:created>
  <dcterms:modified xsi:type="dcterms:W3CDTF">2026-06-30T18:29:24Z</dcterms:modified>
</cp:coreProperties>
</file>